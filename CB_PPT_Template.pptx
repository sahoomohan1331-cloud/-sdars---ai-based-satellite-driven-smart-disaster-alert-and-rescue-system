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Canva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6096000"/>
            <a:chOff x="0" y="0"/>
            <a:chExt cx="24384000" cy="812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128000"/>
            </a:xfrm>
            <a:custGeom>
              <a:avLst/>
              <a:gdLst/>
              <a:ahLst/>
              <a:cxnLst/>
              <a:rect l="l" t="t" r="r" b="b"/>
              <a:pathLst>
                <a:path w="24384000" h="8128000">
                  <a:moveTo>
                    <a:pt x="0" y="0"/>
                  </a:moveTo>
                  <a:lnTo>
                    <a:pt x="24384000" y="0"/>
                  </a:lnTo>
                  <a:lnTo>
                    <a:pt x="24384000" y="8128000"/>
                  </a:lnTo>
                  <a:lnTo>
                    <a:pt x="0" y="812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058432"/>
            <a:ext cx="18288000" cy="365782"/>
            <a:chOff x="0" y="0"/>
            <a:chExt cx="4816593" cy="963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0771" y="6777800"/>
            <a:ext cx="16858355" cy="65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3200" dirty="0">
                <a:solidFill>
                  <a:srgbClr val="202729"/>
                </a:solidFill>
                <a:latin typeface="Arimo"/>
                <a:ea typeface="Arimo"/>
                <a:cs typeface="Arimo"/>
                <a:sym typeface="Arimo"/>
              </a:rPr>
              <a:t>Team Name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8884" y="8715565"/>
            <a:ext cx="16858355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3200">
                <a:solidFill>
                  <a:srgbClr val="202729"/>
                </a:solidFill>
                <a:latin typeface="Arimo"/>
                <a:ea typeface="Arimo"/>
                <a:cs typeface="Arimo"/>
                <a:sym typeface="Arimo"/>
              </a:rPr>
              <a:t>Problem Statement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1756" y="7727318"/>
            <a:ext cx="16858355" cy="65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3200">
                <a:solidFill>
                  <a:srgbClr val="202729"/>
                </a:solidFill>
                <a:latin typeface="Arimo"/>
                <a:ea typeface="Arimo"/>
                <a:cs typeface="Arimo"/>
                <a:sym typeface="Arimo"/>
              </a:rPr>
              <a:t>Team Leader Name 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547481" y="6990649"/>
            <a:ext cx="2211189" cy="2118871"/>
            <a:chOff x="0" y="0"/>
            <a:chExt cx="582371" cy="5580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2371" cy="558057"/>
            </a:xfrm>
            <a:custGeom>
              <a:avLst/>
              <a:gdLst/>
              <a:ahLst/>
              <a:cxnLst/>
              <a:rect l="l" t="t" r="r" b="b"/>
              <a:pathLst>
                <a:path w="582371" h="558057">
                  <a:moveTo>
                    <a:pt x="178564" y="0"/>
                  </a:moveTo>
                  <a:lnTo>
                    <a:pt x="403807" y="0"/>
                  </a:lnTo>
                  <a:cubicBezTo>
                    <a:pt x="502425" y="0"/>
                    <a:pt x="582371" y="79946"/>
                    <a:pt x="582371" y="178564"/>
                  </a:cubicBezTo>
                  <a:lnTo>
                    <a:pt x="582371" y="379493"/>
                  </a:lnTo>
                  <a:cubicBezTo>
                    <a:pt x="582371" y="426851"/>
                    <a:pt x="563558" y="472269"/>
                    <a:pt x="530071" y="505756"/>
                  </a:cubicBezTo>
                  <a:cubicBezTo>
                    <a:pt x="496583" y="539244"/>
                    <a:pt x="451165" y="558057"/>
                    <a:pt x="403807" y="558057"/>
                  </a:cubicBezTo>
                  <a:lnTo>
                    <a:pt x="178564" y="558057"/>
                  </a:lnTo>
                  <a:cubicBezTo>
                    <a:pt x="79946" y="558057"/>
                    <a:pt x="0" y="478111"/>
                    <a:pt x="0" y="379493"/>
                  </a:cubicBezTo>
                  <a:lnTo>
                    <a:pt x="0" y="178564"/>
                  </a:lnTo>
                  <a:cubicBezTo>
                    <a:pt x="0" y="79946"/>
                    <a:pt x="79946" y="0"/>
                    <a:pt x="178564" y="0"/>
                  </a:cubicBezTo>
                  <a:close/>
                </a:path>
              </a:pathLst>
            </a:custGeom>
            <a:solidFill>
              <a:srgbClr val="95C3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82371" cy="624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951121" y="2571782"/>
          <a:ext cx="14478000" cy="716280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14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Leader: 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College: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Member-1: 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College: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2799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Member-2: 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College: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2799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2799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Member-3: 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College: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2799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2799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0" y="0"/>
            <a:ext cx="18288000" cy="10287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832425" y="1410052"/>
            <a:ext cx="4623149" cy="834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8"/>
              </a:lnSpc>
            </a:pPr>
            <a:r>
              <a:rPr lang="en-US" sz="4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 Members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10058432"/>
            <a:ext cx="18288000" cy="365782"/>
            <a:chOff x="0" y="0"/>
            <a:chExt cx="4816593" cy="963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7800" y="1333500"/>
            <a:ext cx="14955745" cy="803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4400" b="1" u="sng" dirty="0"/>
              <a:t>Opportunity: Shift from Raw Weather to Impact-Based Forecasting</a:t>
            </a:r>
          </a:p>
          <a:p>
            <a:endParaRPr lang="en-IN" sz="4400" b="1" u="sng" dirty="0">
              <a:sym typeface="Arimo"/>
            </a:endParaRPr>
          </a:p>
          <a:p>
            <a:r>
              <a:rPr lang="en-GB" sz="2400" b="1" u="sng" dirty="0">
                <a:latin typeface="Arimo"/>
                <a:ea typeface="Arimo"/>
                <a:cs typeface="Arimo"/>
                <a:sym typeface="Arimo"/>
              </a:rPr>
              <a:t>1. How Different is it from Existing Ideas?</a:t>
            </a:r>
          </a:p>
          <a:p>
            <a:r>
              <a:rPr lang="en-GB" sz="2400" dirty="0">
                <a:latin typeface="Arimo"/>
                <a:ea typeface="Arimo"/>
                <a:cs typeface="Arimo"/>
                <a:sym typeface="Arimo"/>
              </a:rPr>
              <a:t>• Current systems are REACTIVE (alert after devastation) and SILOED (separate tools for flood, cyclone, fire).</a:t>
            </a:r>
          </a:p>
          <a:p>
            <a:r>
              <a:rPr lang="en-GB" sz="2400" dirty="0">
                <a:latin typeface="Arimo"/>
                <a:ea typeface="Arimo"/>
                <a:cs typeface="Arimo"/>
                <a:sym typeface="Arimo"/>
              </a:rPr>
              <a:t>• SDARS is PREDICTIVE &amp; UNIFIED: Fuses orbital satellite telemetry, hyper-local weather time-series, and seismic feeds into one cross-hazard intelligence layer hours before peak impact.</a:t>
            </a:r>
          </a:p>
          <a:p>
            <a:endParaRPr lang="en-GB" sz="2400" dirty="0">
              <a:latin typeface="Arimo"/>
              <a:ea typeface="Arimo"/>
              <a:cs typeface="Arimo"/>
              <a:sym typeface="Arimo"/>
            </a:endParaRPr>
          </a:p>
          <a:p>
            <a:r>
              <a:rPr lang="en-GB" sz="2400" b="1" u="sng" dirty="0">
                <a:latin typeface="Arimo"/>
                <a:ea typeface="Arimo"/>
                <a:cs typeface="Arimo"/>
                <a:sym typeface="Arimo"/>
              </a:rPr>
              <a:t>2. How will it Solve the Problem?</a:t>
            </a:r>
          </a:p>
          <a:p>
            <a:r>
              <a:rPr lang="en-GB" sz="2400" dirty="0">
                <a:latin typeface="Arimo"/>
                <a:ea typeface="Arimo"/>
                <a:cs typeface="Arimo"/>
                <a:sym typeface="Arimo"/>
              </a:rPr>
              <a:t>• Implements the official Impact-Based equation: Risk = Hazard (Atmospheric rate-of-change) × Exposure (Population &amp; infrastructure density) × Vulnerability (DEM elevation &amp; shelter distance).</a:t>
            </a:r>
          </a:p>
          <a:p>
            <a:r>
              <a:rPr lang="en-GB" sz="2400" dirty="0">
                <a:latin typeface="Arimo"/>
                <a:ea typeface="Arimo"/>
                <a:cs typeface="Arimo"/>
                <a:sym typeface="Arimo"/>
              </a:rPr>
              <a:t>• Pushes beyond passive hazard maps all the way to operational rescue decisions.</a:t>
            </a:r>
          </a:p>
          <a:p>
            <a:endParaRPr lang="en-GB" sz="2400" dirty="0">
              <a:latin typeface="Arimo"/>
              <a:ea typeface="Arimo"/>
              <a:cs typeface="Arimo"/>
              <a:sym typeface="Arimo"/>
            </a:endParaRPr>
          </a:p>
          <a:p>
            <a:r>
              <a:rPr lang="en-GB" sz="2400" b="1" u="sng" dirty="0">
                <a:latin typeface="Arimo"/>
                <a:ea typeface="Arimo"/>
                <a:cs typeface="Arimo"/>
                <a:sym typeface="Arimo"/>
              </a:rPr>
              <a:t>3. Unique Selling Proposition (USP):</a:t>
            </a:r>
          </a:p>
          <a:p>
            <a:r>
              <a:rPr lang="en-GB" sz="2400" dirty="0">
                <a:latin typeface="Arimo"/>
                <a:ea typeface="Arimo"/>
                <a:cs typeface="Arimo"/>
                <a:sym typeface="Arimo"/>
              </a:rPr>
              <a:t>• Multi-Modal Rate-of-Change AI: </a:t>
            </a:r>
            <a:r>
              <a:rPr lang="en-GB" sz="2400" dirty="0" err="1">
                <a:latin typeface="Arimo"/>
                <a:ea typeface="Arimo"/>
                <a:cs typeface="Arimo"/>
                <a:sym typeface="Arimo"/>
              </a:rPr>
              <a:t>Analyzes</a:t>
            </a:r>
            <a:r>
              <a:rPr lang="en-GB" sz="2400" dirty="0">
                <a:latin typeface="Arimo"/>
                <a:ea typeface="Arimo"/>
                <a:cs typeface="Arimo"/>
                <a:sym typeface="Arimo"/>
              </a:rPr>
              <a:t> pressure drops (-15hPa/12h) and thermal surges across 7 disaster types.</a:t>
            </a:r>
          </a:p>
          <a:p>
            <a:r>
              <a:rPr lang="en-GB" sz="2400" dirty="0">
                <a:latin typeface="Arimo"/>
                <a:ea typeface="Arimo"/>
                <a:cs typeface="Arimo"/>
                <a:sym typeface="Arimo"/>
              </a:rPr>
              <a:t>• Explainable AI (XAI): Returns transparent reasoning chains for non-technical emergency coordinators.</a:t>
            </a:r>
          </a:p>
          <a:p>
            <a:r>
              <a:rPr lang="en-GB" sz="2400" dirty="0">
                <a:latin typeface="Arimo"/>
                <a:ea typeface="Arimo"/>
                <a:cs typeface="Arimo"/>
                <a:sym typeface="Arimo"/>
              </a:rPr>
              <a:t>• Zero Hardware / Zero Cost on Day 1: Globally deployable via 100% free open-government APIs.</a:t>
            </a:r>
          </a:p>
          <a:p>
            <a:pPr marL="1030544" lvl="1" indent="-515272" algn="l">
              <a:lnSpc>
                <a:spcPts val="3560"/>
              </a:lnSpc>
            </a:pPr>
            <a:endParaRPr lang="en-US" sz="3225" dirty="0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058432"/>
            <a:ext cx="18288000" cy="365782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4823" y="1608973"/>
            <a:ext cx="14955745" cy="720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400" b="1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List of features offered by the solution</a:t>
            </a:r>
          </a:p>
          <a:p>
            <a:r>
              <a:rPr lang="en-IN" sz="3000" b="1" u="sng" dirty="0"/>
              <a:t>1. Multi-Modal Cross-Hazard AI Predictor: </a:t>
            </a:r>
            <a:r>
              <a:rPr lang="en-IN" sz="3000" dirty="0"/>
              <a:t>Classifies 7 disaster types (Fire, Flood, Cyclone, Earthquake, Heatwave, Drought, Landslide) simultaneously using Random Forest ensemble models.</a:t>
            </a:r>
          </a:p>
          <a:p>
            <a:r>
              <a:rPr lang="en-IN" sz="3000" b="1" u="sng" dirty="0"/>
              <a:t>2. Explainable AI (XAI) Impact Engine</a:t>
            </a:r>
            <a:r>
              <a:rPr lang="en-IN" sz="3000" dirty="0"/>
              <a:t>: Generates human-readable decision chains (e.g., 'Risk: HIGH due to -16.2 </a:t>
            </a:r>
            <a:r>
              <a:rPr lang="en-IN" sz="3000" dirty="0" err="1"/>
              <a:t>hPa</a:t>
            </a:r>
            <a:r>
              <a:rPr lang="en-IN" sz="3000" dirty="0"/>
              <a:t> pressure plunge and dry fuel moisture') rather than black-box probabilities.</a:t>
            </a:r>
          </a:p>
          <a:p>
            <a:r>
              <a:rPr lang="en-IN" sz="3000" b="1" u="sng" dirty="0"/>
              <a:t>3. 3D Tactical War Room (</a:t>
            </a:r>
            <a:r>
              <a:rPr lang="en-IN" sz="3000" b="1" u="sng" dirty="0" err="1"/>
              <a:t>CesiumJS</a:t>
            </a:r>
            <a:r>
              <a:rPr lang="en-IN" sz="3000" b="1" u="sng" dirty="0"/>
              <a:t>): </a:t>
            </a:r>
            <a:r>
              <a:rPr lang="en-IN" sz="3000" dirty="0"/>
              <a:t>Live planetary globe with real-time ISS spacecraft tracking, 3D danger towers, and topographic flood inundation </a:t>
            </a:r>
            <a:r>
              <a:rPr lang="en-IN" sz="3000" dirty="0" err="1"/>
              <a:t>modeling</a:t>
            </a:r>
            <a:r>
              <a:rPr lang="en-IN" sz="3000" dirty="0"/>
              <a:t>.</a:t>
            </a:r>
          </a:p>
          <a:p>
            <a:r>
              <a:rPr lang="en-IN" sz="3000" b="1" u="sng" dirty="0"/>
              <a:t>4. Dynamic Safe Evacuation Navigation</a:t>
            </a:r>
            <a:r>
              <a:rPr lang="en-IN" sz="3000" b="1" dirty="0"/>
              <a:t>: </a:t>
            </a:r>
            <a:r>
              <a:rPr lang="en-IN" sz="3000" dirty="0"/>
              <a:t>OSRM Dijkstra routing engine that plots shortest escape routes avoiding disaster hazard zones, complete with route carbon footprint optimization.</a:t>
            </a:r>
          </a:p>
          <a:p>
            <a:r>
              <a:rPr lang="en-IN" sz="3000" b="1" u="sng" dirty="0"/>
              <a:t>5. Verified Resource &amp; Shelter Locator: </a:t>
            </a:r>
            <a:r>
              <a:rPr lang="en-IN" sz="3000" dirty="0"/>
              <a:t>Discovers real-time hospitals, relief camps, and clinics with spatial distance calculations via live OpenStreetMap GIS integration.</a:t>
            </a:r>
          </a:p>
          <a:p>
            <a:r>
              <a:rPr lang="en-IN" sz="3000" b="1" u="sng" dirty="0"/>
              <a:t>6. Citizen Crowd-Intelligence Loop: </a:t>
            </a:r>
            <a:r>
              <a:rPr lang="en-IN" sz="3000" dirty="0"/>
              <a:t>Mobile field reporting portal where citizen ground-truth observations corroborate satellite telemetry and dynamically boost AI alert confidence.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058432"/>
            <a:ext cx="18288000" cy="365782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4823" y="1732798"/>
            <a:ext cx="14955745" cy="504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Process flow diagram or Use-case diagram</a:t>
            </a:r>
          </a:p>
          <a:p>
            <a:pPr algn="l">
              <a:lnSpc>
                <a:spcPts val="4416"/>
              </a:lnSpc>
            </a:pPr>
            <a:r>
              <a:rPr lang="en-US" sz="3200" dirty="0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Add a flow diagram or a use case diagram or an architecture diagram.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058432"/>
            <a:ext cx="18288000" cy="365782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1B56287-1960-663F-12AF-7C155A303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12878"/>
            <a:ext cx="18288000" cy="89455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4823" y="1732798"/>
            <a:ext cx="14955745" cy="51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16"/>
              </a:lnSpc>
            </a:pP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Wireframes/Mock diagrams of the proposed solution (optional)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058432"/>
            <a:ext cx="18288000" cy="365782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012A4131-68D9-043A-3DD4-2C3099C9C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77" y="1070905"/>
            <a:ext cx="18244919" cy="89875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0287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058432"/>
            <a:ext cx="18288000" cy="365782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DE4B92AC-EB99-320C-D81D-D04213E7C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12053"/>
            <a:ext cx="18288000" cy="9156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4823" y="1556857"/>
            <a:ext cx="14955745" cy="7851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16"/>
              </a:lnSpc>
            </a:pP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Technologies to be Used in the Solution</a:t>
            </a:r>
          </a:p>
          <a:p>
            <a:pPr marL="342900" indent="-342900">
              <a:lnSpc>
                <a:spcPts val="4416"/>
              </a:lnSpc>
              <a:buFont typeface="Wingdings" panose="05000000000000000000" pitchFamily="2" charset="2"/>
              <a:buChar char="Ø"/>
            </a:pPr>
            <a:r>
              <a:rPr lang="en-US" sz="2200" b="1" u="sng" spc="3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Artificial Intelligence &amp; Machine Learning:</a:t>
            </a:r>
          </a:p>
          <a:p>
            <a:pPr>
              <a:lnSpc>
                <a:spcPts val="4416"/>
              </a:lnSpc>
            </a:pP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Python, Scikit-Learn (Random Forest, Gradient Boosting Classifiers), NumPy, Pandas, </a:t>
            </a: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Joblib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342900" indent="-342900">
              <a:lnSpc>
                <a:spcPts val="4416"/>
              </a:lnSpc>
              <a:buFont typeface="Wingdings" panose="05000000000000000000" pitchFamily="2" charset="2"/>
              <a:buChar char="Ø"/>
            </a:pPr>
            <a:r>
              <a:rPr lang="en-US" sz="2200" b="1" u="sng" spc="3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Backend &amp; Core Architecture:</a:t>
            </a:r>
          </a:p>
          <a:p>
            <a:pPr>
              <a:lnSpc>
                <a:spcPts val="4416"/>
              </a:lnSpc>
            </a:pP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FastAPI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(Asynchronous REST API), Python </a:t>
            </a: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asyncio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SQLAlchemy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ORM, SQLite Database, </a:t>
            </a: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Uvicorn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ASGI Server.</a:t>
            </a:r>
          </a:p>
          <a:p>
            <a:pPr marL="342900" indent="-342900">
              <a:lnSpc>
                <a:spcPts val="4416"/>
              </a:lnSpc>
              <a:buFont typeface="Wingdings" panose="05000000000000000000" pitchFamily="2" charset="2"/>
              <a:buChar char="Ø"/>
            </a:pPr>
            <a:r>
              <a:rPr lang="en-US" sz="2200" b="1" u="sng" spc="3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Live Earth Observation &amp; Telemetry Feeds:</a:t>
            </a:r>
          </a:p>
          <a:p>
            <a:pPr>
              <a:lnSpc>
                <a:spcPts val="4416"/>
              </a:lnSpc>
            </a:pP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NASA GIBS (MODIS Land Surface Temp), NASA EONET (Active Disasters), Open-</a:t>
            </a: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Meteo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(1km Weather &amp; DEM Elevation), Planet Insights Platform, USGS Seismology.</a:t>
            </a:r>
          </a:p>
          <a:p>
            <a:pPr marL="342900" indent="-342900">
              <a:lnSpc>
                <a:spcPts val="4416"/>
              </a:lnSpc>
              <a:buFont typeface="Wingdings" panose="05000000000000000000" pitchFamily="2" charset="2"/>
              <a:buChar char="Ø"/>
            </a:pPr>
            <a:r>
              <a:rPr lang="en-US" sz="2200" b="1" u="sng" spc="3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Geospatial &amp; Visualization Frameworks:</a:t>
            </a:r>
          </a:p>
          <a:p>
            <a:pPr>
              <a:lnSpc>
                <a:spcPts val="4416"/>
              </a:lnSpc>
            </a:pP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CesiumJS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3D WebGL Globe Engine, Leaflet.js, Open Source Routing Machine (OSRM), OpenStreetMap </a:t>
            </a: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Nominatim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/Overpass GIS API.</a:t>
            </a:r>
          </a:p>
          <a:p>
            <a:pPr marL="342900" indent="-342900">
              <a:lnSpc>
                <a:spcPts val="4416"/>
              </a:lnSpc>
              <a:buFont typeface="Wingdings" panose="05000000000000000000" pitchFamily="2" charset="2"/>
              <a:buChar char="Ø"/>
            </a:pPr>
            <a:r>
              <a:rPr lang="en-US" sz="2200" b="1" u="sng" spc="3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Security &amp; Real-Time Alerting:</a:t>
            </a:r>
          </a:p>
          <a:p>
            <a:pPr>
              <a:lnSpc>
                <a:spcPts val="4416"/>
              </a:lnSpc>
            </a:pP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WebSockets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(Bidirectional Push Alerts), SMTP TLS Automated Email Protocol, </a:t>
            </a:r>
            <a:r>
              <a:rPr lang="en-US" sz="2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Passwordless</a:t>
            </a:r>
            <a:r>
              <a:rPr lang="en-US" sz="2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OTP Authentication.</a:t>
            </a:r>
          </a:p>
          <a:p>
            <a:pPr algn="l">
              <a:lnSpc>
                <a:spcPts val="4416"/>
              </a:lnSpc>
            </a:pPr>
            <a:endParaRPr lang="en-US" sz="32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058432"/>
            <a:ext cx="18288000" cy="365782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4823" y="1732798"/>
            <a:ext cx="14955745" cy="742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44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Estimated Implementation Cost &amp; Feasibility</a:t>
            </a: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1">
              <a:lnSpc>
                <a:spcPct val="150000"/>
              </a:lnSpc>
            </a:pPr>
            <a:r>
              <a:rPr lang="en-US" sz="2000" b="1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PHASE 1: CURRENT SOFTWARE CORE IMPLEMENTATION = ₹0 (ZERO COST)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100% Free Open-Source Programming Languages: Python, JavaScript, HTML5/CSS3.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100% Free Public Government &amp; Scientific APIs: NASA MODIS/EONET, Open-</a:t>
            </a:r>
            <a:r>
              <a:rPr lang="en-US" sz="20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Meteo</a:t>
            </a: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USGS, OpenStreetMap, OSRM.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Zero Paid Cloud or Proprietary Licenses: Runs locally on standard laptops/servers with zero operational overhead.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Zero Hardware Dependencies: Instant zero-capital global deployment covering any geography worldwide.</a:t>
            </a: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1">
              <a:lnSpc>
                <a:spcPct val="150000"/>
              </a:lnSpc>
            </a:pPr>
            <a:r>
              <a:rPr lang="en-US" sz="2000" b="1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PHASE 2: FUTURE HARDWARE EXPANSION ROADMAP (MODULAR / OPTIONAL)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Low-Power IoT Ground Sensor Nodes (ESP32 + LoRa + Ultrasonic Flood Probes): ~₹1,800 to ₹2,500 per remote station.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Solar Harvester &amp; Li-Ion Power Pack: ~₹800 per self-sustained ground unit.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Drone Reconnaissance Integration: Triggered via standard pre-built machine-to-machine (M2M) API webhooks.</a:t>
            </a: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lvl="1">
              <a:lnSpc>
                <a:spcPct val="150000"/>
              </a:lnSpc>
            </a:pPr>
            <a:r>
              <a:rPr lang="en-US" sz="2000" b="1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CONCLUSION: Maximum Scalability with Zero Financial Barrier on Day 1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Demonstrates that state-of-the-art predictive disaster intelligence can be globally accessible to developing and remote regions.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058432"/>
            <a:ext cx="18288000" cy="365782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F866701-19C7-3071-C8E4-E5685A19D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794</Words>
  <Application>Microsoft Office PowerPoint</Application>
  <PresentationFormat>Custom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Arimo</vt:lpstr>
      <vt:lpstr>Calibri</vt:lpstr>
      <vt:lpstr>Canva Sans Bold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[Pub] ISRO BAH 2026 _ Idea Submission Template.pptx</dc:title>
  <dc:creator>Gyanranjan Priyam</dc:creator>
  <cp:lastModifiedBy>M S</cp:lastModifiedBy>
  <cp:revision>4</cp:revision>
  <dcterms:created xsi:type="dcterms:W3CDTF">2006-08-16T00:00:00Z</dcterms:created>
  <dcterms:modified xsi:type="dcterms:W3CDTF">2026-09-29T20:10:11Z</dcterms:modified>
  <dc:identifier>DAHVHKiqb7g</dc:identifier>
</cp:coreProperties>
</file>